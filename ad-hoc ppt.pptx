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46BC-ACF5-087D-8762-88A1C1968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F5724-D8AB-AAE0-76FE-54E96EE9A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A0548-C933-3FF3-4887-07F30B748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E3DBB-EC34-C472-2686-31920032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2CA2B-2485-2622-E629-78ACA8D2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885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6A12-411B-FB5D-3251-04A6C5EE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7A80-98D9-F147-CA6D-086742231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00F96-EB33-D0CF-28D8-EF4948D2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5DD27-00DF-CA41-37B9-207A2C43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A6C32-7819-41FF-DD3B-30232D6C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2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9D65-7801-9873-1903-6E7D6804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D521F-C1CD-B11D-6FD3-0DAE4C0BE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A84DC-A594-5CB9-2784-CB2E7CB1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7C42F-3944-830B-F71C-51D144B6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3EB5D-57E5-2205-CD2E-1A9F6CE6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7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C4D6-DABF-4AE3-7C7F-71CB4C30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ECCF-3A34-4BD5-B865-B27FFA2F0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D93FA-2B7E-499E-3EFE-32C102067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EF6D0-5EB0-97B7-FB5C-BCF70FED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674E1-AD83-FB35-D4C6-AEE95585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C531D-15E9-AD8A-C0D5-85F04709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97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FDF6F-617C-A0E8-1FE3-E39AC6D8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9C0BA-1A8A-B8DA-D2A4-2B4B6424D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9B2B7-2E6E-126F-9BA1-646A90376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F6630-D462-F2F6-5B8F-8C155CDD8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3301B-C122-C4D1-34C2-E73871C2D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16758-D861-1D31-9644-2AD3A79F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C573FD-5486-115A-C481-7E743257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147CB-8DB4-81D4-34A6-7F3F36B3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016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80CC-ACEF-9AE3-731F-CEFFF231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D2EE4-EC26-9CBA-CBB2-C24C7CBB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82E29-2D30-8CD0-1C13-2F4D5872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D89DC-4F5D-2542-9519-014950A4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59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69BDD-7B46-1AC8-6AA4-8409503F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F29EC-F530-7075-27C3-206E15D5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27D0C-9943-3D25-23BA-118729F3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03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CD26-7D63-634C-5C4D-54D98FA8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5AB6-BC33-6D4C-E07B-B29F48677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36C5C-CD9D-303E-753B-D531A97E1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73772-5570-0D24-F5DE-035A9134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90F7C-9DFF-5621-75D2-55F12519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BC8CB-EBBD-6926-5856-84759BB2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74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191E-9C6D-AB3F-80D9-277BAD3C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094661-7C95-89BA-AA1C-A3849842FCE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4E24A-2C5F-4D2D-E327-4AFF6BA74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ACD1-5AE5-60FE-B549-AED9792A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B67BF-D226-630B-54EA-2596C312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93114-5768-21E5-8265-3F33CAD7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23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560A-448E-AA62-9DC4-3A60DDB9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5B7F5-559D-A518-BA3F-9A9F8587E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BDE62-3624-AF5A-0274-13CBD830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7A016-D737-B934-9E1F-C129C38E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97339-6FB4-56F9-B549-F6FE57C3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6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9F20A-A41B-B724-7893-0C4ED6B4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8EAE3-BAD0-44A2-30DC-98E37C54C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0C4D-C8BD-AE8A-21E4-AA6D5C4E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1B4D2-A0A3-72F5-1F82-F4DCF0BC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4D991-2707-1FB4-B26E-F68E7A0F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75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6597D-CCD2-36FF-876D-4F2AD4C8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6AB79-DF75-5AA1-F12E-2165B0AD6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1FC27-6B2E-F7DD-EF72-E170BFA77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34A33-D972-4150-9822-C7DBF5E95FAD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03B25-D47D-D295-431E-88F5EE5D1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70C87-379C-129C-1286-7E60C97E8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8F987-AE36-4541-968A-6CA1A9033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93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A0890-639C-2A5E-C746-31A350147497}"/>
              </a:ext>
            </a:extLst>
          </p:cNvPr>
          <p:cNvSpPr txBox="1"/>
          <p:nvPr/>
        </p:nvSpPr>
        <p:spPr>
          <a:xfrm>
            <a:off x="1238865" y="1533831"/>
            <a:ext cx="3834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latin typeface="Avenir Next LT Pro" panose="020B0504020202020204" pitchFamily="34" charset="0"/>
              </a:rPr>
              <a:t>AtliQ</a:t>
            </a:r>
            <a:r>
              <a:rPr lang="en-US" sz="5400" b="1" dirty="0">
                <a:latin typeface="Avenir Next LT Pro" panose="020B0504020202020204" pitchFamily="34" charset="0"/>
              </a:rPr>
              <a:t> Hardware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D6A8F-6D14-B200-F553-2FB051111211}"/>
              </a:ext>
            </a:extLst>
          </p:cNvPr>
          <p:cNvSpPr txBox="1"/>
          <p:nvPr/>
        </p:nvSpPr>
        <p:spPr>
          <a:xfrm>
            <a:off x="1238865" y="3569844"/>
            <a:ext cx="4129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venir Next LT Pro" panose="020B0504020202020204" pitchFamily="34" charset="0"/>
              </a:rPr>
              <a:t>Consumer Goods </a:t>
            </a:r>
            <a:r>
              <a:rPr lang="en-IN" sz="2400" dirty="0" err="1">
                <a:latin typeface="Avenir Next LT Pro" panose="020B0504020202020204" pitchFamily="34" charset="0"/>
              </a:rPr>
              <a:t>Ad_Hoc</a:t>
            </a:r>
            <a:r>
              <a:rPr lang="en-IN" sz="2400" dirty="0">
                <a:latin typeface="Avenir Next LT Pro" panose="020B0504020202020204" pitchFamily="34" charset="0"/>
              </a:rPr>
              <a:t>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A3E57-B557-7BA6-60F3-FB1C5C520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589" y="1415845"/>
            <a:ext cx="3396054" cy="33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7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2AAC79-2EEB-BDCE-FCDD-EECC0EB4F690}"/>
              </a:ext>
            </a:extLst>
          </p:cNvPr>
          <p:cNvSpPr txBox="1"/>
          <p:nvPr/>
        </p:nvSpPr>
        <p:spPr>
          <a:xfrm>
            <a:off x="1236000" y="1629000"/>
            <a:ext cx="9720000" cy="3866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venir Next LT Pro" panose="020B0504020202020204" pitchFamily="34" charset="0"/>
              </a:rPr>
              <a:t>Analyze</a:t>
            </a:r>
            <a:r>
              <a:rPr lang="en-IN" dirty="0">
                <a:latin typeface="Avenir Next LT Pro" panose="020B0504020202020204" pitchFamily="34" charset="0"/>
              </a:rPr>
              <a:t> </a:t>
            </a:r>
            <a:r>
              <a:rPr lang="en-IN" dirty="0" err="1">
                <a:latin typeface="Avenir Next LT Pro" panose="020B0504020202020204" pitchFamily="34" charset="0"/>
              </a:rPr>
              <a:t>AtliQ</a:t>
            </a:r>
            <a:r>
              <a:rPr lang="en-IN" dirty="0">
                <a:latin typeface="Avenir Next LT Pro" panose="020B0504020202020204" pitchFamily="34" charset="0"/>
              </a:rPr>
              <a:t> Hardware's sales database using MySQL to answer 10 business-critical questions related to markets, products, customers, manufacturing costs, and sales performance.</a:t>
            </a:r>
          </a:p>
          <a:p>
            <a:pPr marL="285750" lvl="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venir Next LT Pro" panose="020B0504020202020204" pitchFamily="34" charset="0"/>
              </a:rPr>
              <a:t>Evaluate product growth, customer discount patterns, monthly and quarterly trends, and sales channel contribution.</a:t>
            </a:r>
          </a:p>
          <a:p>
            <a:pPr marL="285750" lvl="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venir Next LT Pro" panose="020B0504020202020204" pitchFamily="34" charset="0"/>
              </a:rPr>
              <a:t>Identify top-performing products across divisions and compare manufacturing costs to support product-level evaluation.</a:t>
            </a:r>
          </a:p>
          <a:p>
            <a:pPr marL="285750" lvl="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venir Next LT Pro" panose="020B0504020202020204" pitchFamily="34" charset="0"/>
              </a:rPr>
              <a:t>Translate SQL query results into actionable business insights for management and sales teams.</a:t>
            </a:r>
          </a:p>
          <a:p>
            <a:pPr marL="285750" lvl="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venir Next LT Pro" panose="020B0504020202020204" pitchFamily="34" charset="0"/>
              </a:rPr>
              <a:t>Demonstrate practical SQL skills using joins, aggregations, CTEs, subqueries, and window functions.</a:t>
            </a:r>
          </a:p>
          <a:p>
            <a:pPr>
              <a:lnSpc>
                <a:spcPct val="114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141B3-2AB9-6F38-EA78-3A71BF1EED92}"/>
              </a:ext>
            </a:extLst>
          </p:cNvPr>
          <p:cNvSpPr txBox="1"/>
          <p:nvPr/>
        </p:nvSpPr>
        <p:spPr>
          <a:xfrm>
            <a:off x="4994787" y="639097"/>
            <a:ext cx="2202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venir Next LT Pro" panose="020B0504020202020204" pitchFamily="34" charset="0"/>
              </a:rPr>
              <a:t>Objectives</a:t>
            </a:r>
            <a:endParaRPr lang="en-IN" sz="2800" b="1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80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3154B-C26B-E957-F73E-77F7E5074F84}"/>
              </a:ext>
            </a:extLst>
          </p:cNvPr>
          <p:cNvSpPr txBox="1"/>
          <p:nvPr/>
        </p:nvSpPr>
        <p:spPr>
          <a:xfrm>
            <a:off x="497329" y="251368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"</a:t>
            </a:r>
            <a:r>
              <a:rPr lang="en-US" sz="3500" dirty="0" err="1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Atliq</a:t>
            </a:r>
            <a:r>
              <a:rPr lang="en-US" sz="3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 Exclusive" businesses in the APAC region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075B64-1CCE-66C5-37C9-22D6E8F64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615" y="2327966"/>
            <a:ext cx="1720732" cy="26951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99438B-8C2A-562C-72F9-71D01F6CD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122" y="2327966"/>
            <a:ext cx="5568910" cy="3647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31EB16-CA96-54F6-9247-EA5663D30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615" y="478712"/>
            <a:ext cx="7112423" cy="1173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091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E8E5A-D037-91F0-8882-C98A71C6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7CD238-3E58-C83E-D373-C4D356154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F00A26-1A0B-3A38-4A08-1D047F56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3FECFF-07C7-18DB-B7D9-9DF64C08E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D5EF9C3-5CB4-D62B-3AF2-F73A5EF1F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D73750-37E4-BDF1-76F7-E1E8889C0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54A99-5B89-AA2D-C991-3851DAD3601D}"/>
              </a:ext>
            </a:extLst>
          </p:cNvPr>
          <p:cNvSpPr txBox="1"/>
          <p:nvPr/>
        </p:nvSpPr>
        <p:spPr>
          <a:xfrm>
            <a:off x="497329" y="2504779"/>
            <a:ext cx="3041803" cy="31880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Percentage of unique product increase in 2021 vs. 2020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B798D9-5193-4773-B619-30F6D5E0A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498" y="213907"/>
            <a:ext cx="7739745" cy="19690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5E2D83-82EA-5163-9A9A-DFFF6DBFA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937" y="2396866"/>
            <a:ext cx="4720081" cy="9495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86F1C6-23EE-E79B-EB37-5D594443C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937" y="3613344"/>
            <a:ext cx="4367173" cy="28320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811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CCA7B-1154-A65A-1190-BF8B5B9F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8BD82C2-DBB9-9D98-B939-2596EB564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94780E-813C-ECE7-EEE6-7ECA44FA5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6910C0-755D-088F-BE12-6B2AB8A83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67380DC-A8DB-00EF-62A1-07EE9895D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561B66-C1B1-78B8-F391-80C961A92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E3638-68B7-5496-4E03-EDAB2AC7A531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A report with all the unique product counts for each segment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0A43C-02D4-0A2A-6F30-841D91811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422" y="478712"/>
            <a:ext cx="5700254" cy="12269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66C31D-8B30-D90A-284B-9E56A6906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422" y="2184350"/>
            <a:ext cx="2268472" cy="18075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3FA21-6612-0385-1A64-60CFE5C20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68" y="2184350"/>
            <a:ext cx="4938188" cy="30254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293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CD10-66CB-C9C4-B83B-A89B3776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71CDE9F-A5F7-EDA8-D008-FCCC1CA18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A04ABB-09E8-CC3B-2D44-326101D04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524B13-8CC3-54D4-6AF1-6300CA580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3A20203-9213-A806-30E2-88464C4DD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49B352-2043-2C6E-2A6B-A5D4B4EA1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871B0-300D-4FEC-D8B1-9354C763EB72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A segment with most increase in unique products in 2021 vs 2020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F7E4BE-C268-14A3-6CAC-1D1F36AD0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92" y="211829"/>
            <a:ext cx="5045301" cy="4001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9FB76-B1EA-8E6F-0F85-BD3DDD5DA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992" y="4425103"/>
            <a:ext cx="3786560" cy="14939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835D5A-E1B2-ABB3-6999-62D8C7132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260" y="4397099"/>
            <a:ext cx="3886890" cy="21315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562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20C58-7651-CDE1-B2B4-E22C50C7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DE07C7-89E4-2F24-F676-9ACB9B16E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AE2CD4-D0C0-104B-225A-2E3C223BF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D9EF40-895D-CAC5-E6AC-97D6FA8DE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0F1CE80-D68F-3CA9-B1B5-C9EC5D1AA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7C65BE-1FAE-A1EB-748A-9BA4F8627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887B4-A8D6-3060-E064-D51A4F2EA1BF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Products that have the highest and lowest manufacturing costs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D3952-DEC3-95DD-3B80-DEDF53BC8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40" y="2804106"/>
            <a:ext cx="4685124" cy="8633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2326D-4E98-79C3-74AE-71882C7BB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840" y="454377"/>
            <a:ext cx="6645216" cy="1928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15393-FAE1-DACA-F23A-F41EAEAE8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40" y="4043450"/>
            <a:ext cx="3904322" cy="14174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430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E1120-99AE-52D0-DFCE-A8233907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C32DC1F-7453-58AC-6C91-F2FE6EE0E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DF390E-281E-16F9-C788-1AB6D1C3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90659C-F95C-3DB4-9E42-5ACA097C2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F742110-597F-49E2-F69E-AA9BA68DF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925C6D-7A5B-6D45-DF3A-271A27F6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5BEAE-EA30-D249-9AAC-103DE53DA6A6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A report which contains the top 5 customers who received an above average </a:t>
            </a:r>
            <a:r>
              <a:rPr lang="en-US" sz="2500" dirty="0" err="1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pre_invoice_discount_pct</a:t>
            </a:r>
            <a:r>
              <a:rPr lang="en-US" sz="2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 for the fiscal year 2021 and in the Indian market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CD5B4-58D4-EDB2-774D-4AEF2783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40" y="303576"/>
            <a:ext cx="7940968" cy="2734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07986C-6A8B-57AF-C3F7-14082AD42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840" y="3508397"/>
            <a:ext cx="5333586" cy="231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390EA-5DA9-BAFB-39F4-4C18AB10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B069DC9-F596-CA5C-1165-71FA8DF28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042088-1C0E-6B82-1507-780DFD5CD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D9356C-C056-5FD1-FF5F-83C6774B6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08173B5-D1E0-B174-D0FD-33033FE09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CA54E0-10E3-6880-20B6-1970A93B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B17B0-323E-C8FE-279F-9F108E028C77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A report of the Gross sales amount for the customer “</a:t>
            </a:r>
            <a:r>
              <a:rPr lang="en-US" sz="3200" dirty="0" err="1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Atliq</a:t>
            </a:r>
            <a:r>
              <a:rPr lang="en-US" sz="32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 Exclusive” for each month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34A2C-94A6-5406-46FC-C7EB41DD0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39" y="322470"/>
            <a:ext cx="6897787" cy="2163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E8E197-BD40-E765-0664-52B32D8DA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839" y="2568130"/>
            <a:ext cx="2989605" cy="42232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586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52B5F-F25F-7510-BF71-F7DB092B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78D5586-DFF9-1A36-409D-94B21AB6D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8AD489-DF03-AA65-5C85-0311344E1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2CFA53-5605-5324-A061-B63D075E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1C6C518-06B6-63D6-7946-AEE17897A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DF2488-557A-4AED-3BCB-B71805FD1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9E443-B433-7524-3FDC-C158D5B38CEC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The quarter of 2020, with maximum </a:t>
            </a:r>
            <a:r>
              <a:rPr lang="en-US" sz="3500" dirty="0" err="1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total_sold_quantity</a:t>
            </a:r>
            <a:endParaRPr lang="en-US" sz="3500" dirty="0">
              <a:solidFill>
                <a:srgbClr val="FFFFFF"/>
              </a:solidFill>
              <a:latin typeface="Avenir Next LT Pro" panose="020B0504020202020204" pitchFamily="34" charset="0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887CA-3392-5458-D956-BC8942C12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676" y="478712"/>
            <a:ext cx="6332769" cy="260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B71704-4060-7294-722B-EF332033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676" y="3773023"/>
            <a:ext cx="5276680" cy="190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11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6FD2D-064E-2731-E380-1AC3F1E4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34AEE28-089A-0071-26FB-4310C3ABD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9C20EE-9CE3-DBFF-25CA-B29496D63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136FE-6806-BF29-A4D1-10E1826A4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D67932-9625-3CC9-0E1D-6CB305754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91C886-0107-CCCB-7396-066AA3234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DB387-EBF1-F384-740D-D8C070A473C5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Channels and their gross sales in the fiscal year 2021 and their percentage of contribution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B6F83-71A9-2874-9B63-929A3DB0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157" y="192918"/>
            <a:ext cx="6606475" cy="43469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1CC05-DC21-8169-79DD-61FB4DF6F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156" y="4732766"/>
            <a:ext cx="4040743" cy="15750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118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670ED-BD60-09D6-5882-F7511AAF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74EF19E-CAD7-C9BA-56CB-F65400DC5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564C89-4E88-DBBA-EED7-ED6FA89D5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169B83-DBA5-12BA-A050-D3C864B83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FA958CB-279F-B0D5-F1D8-C0D9C3495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29C59-D143-4919-E905-8F8E759C8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A7B8E-1E61-4DF1-B771-10A737AC0C8E}"/>
              </a:ext>
            </a:extLst>
          </p:cNvPr>
          <p:cNvSpPr txBox="1"/>
          <p:nvPr/>
        </p:nvSpPr>
        <p:spPr>
          <a:xfrm>
            <a:off x="455061" y="2504779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Top 3 products in each division that have a high </a:t>
            </a:r>
            <a:r>
              <a:rPr lang="en-US" sz="3100" dirty="0" err="1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total_sold_quantity</a:t>
            </a:r>
            <a:r>
              <a:rPr lang="en-US" sz="31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 in the </a:t>
            </a:r>
            <a:r>
              <a:rPr lang="en-US" sz="3100" dirty="0" err="1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fiscal_year</a:t>
            </a:r>
            <a:r>
              <a:rPr lang="en-US" sz="3100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 2021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69DEE-CE9D-DBBC-5D02-125657482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005" y="209736"/>
            <a:ext cx="7102743" cy="40607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E3BEB3-A3B3-CB9A-776A-18CA03EE4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005" y="4366050"/>
            <a:ext cx="4784469" cy="23963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723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245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Avenir Next LT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</dc:creator>
  <cp:lastModifiedBy>Abhishek S</cp:lastModifiedBy>
  <cp:revision>16</cp:revision>
  <dcterms:created xsi:type="dcterms:W3CDTF">2026-10-13T07:02:15Z</dcterms:created>
  <dcterms:modified xsi:type="dcterms:W3CDTF">2026-10-19T20:51:11Z</dcterms:modified>
</cp:coreProperties>
</file>